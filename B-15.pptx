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9"/>
  </p:notesMasterIdLst>
  <p:sldIdLst>
    <p:sldId id="262" r:id="rId3"/>
    <p:sldId id="268" r:id="rId4"/>
    <p:sldId id="257" r:id="rId5"/>
    <p:sldId id="263" r:id="rId6"/>
    <p:sldId id="259" r:id="rId7"/>
    <p:sldId id="270" r:id="rId8"/>
    <p:sldId id="271" r:id="rId9"/>
    <p:sldId id="319" r:id="rId10"/>
    <p:sldId id="260" r:id="rId11"/>
    <p:sldId id="307" r:id="rId12"/>
    <p:sldId id="320" r:id="rId13"/>
    <p:sldId id="321" r:id="rId14"/>
    <p:sldId id="322" r:id="rId15"/>
    <p:sldId id="269" r:id="rId16"/>
    <p:sldId id="323" r:id="rId17"/>
    <p:sldId id="324" r:id="rId18"/>
    <p:sldId id="325" r:id="rId19"/>
    <p:sldId id="314" r:id="rId20"/>
    <p:sldId id="326" r:id="rId21"/>
    <p:sldId id="315" r:id="rId22"/>
    <p:sldId id="328" r:id="rId23"/>
    <p:sldId id="317" r:id="rId24"/>
    <p:sldId id="318" r:id="rId25"/>
    <p:sldId id="261" r:id="rId26"/>
    <p:sldId id="327" r:id="rId27"/>
    <p:sldId id="26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40AA1-EFB0-4F6F-A548-031165B6FA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13DB4-7429-4B3D-A4BA-2A46B2E39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148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13DB4-7429-4B3D-A4BA-2A46B2E397B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392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13DB4-7429-4B3D-A4BA-2A46B2E397B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843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13DB4-7429-4B3D-A4BA-2A46B2E397B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49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13DB4-7429-4B3D-A4BA-2A46B2E397B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255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13DB4-7429-4B3D-A4BA-2A46B2E397B3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134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BE11-4C1D-1841-27DB-5C4FA15C2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9AA3D1-4D41-A2F1-72C8-2D6F5CD7F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BFDAF-C023-D6D0-CD1C-127585D72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43F75-1D30-78AA-2928-B9A4F7C02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13DB4-7429-4B3D-A4BA-2A46B2E397B3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779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13DB4-7429-4B3D-A4BA-2A46B2E397B3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331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33163-595A-C011-82B3-56267B0E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27DD5-C89B-38E1-A29F-C8A54E493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4F737-06CB-90D8-2CC1-E48B4C397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A8719-4513-F0FE-AC80-9C5CD7291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13DB4-7429-4B3D-A4BA-2A46B2E397B3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761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0AFCA-A0AB-665B-BFDC-741B60FA5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B6347-BF9E-5D35-DA1D-EBA74B477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A28D9-BAFC-118A-8E5D-743933603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6FE5-EFF7-45C1-B4F5-A424E20FE23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FC4AE-3BB5-7CDB-67CB-24169D045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A415F-BADE-E566-2A90-BAACC5B50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EF63-3F7E-4AA2-907B-431B34AC0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896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07CD-A0C8-A452-E049-EAD9C35A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C798E-2023-9B4F-36E3-FC6D55F00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1362E-EC36-D572-A9D6-0A3871CA9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6FE5-EFF7-45C1-B4F5-A424E20FE23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F6A6B-3BE9-A191-665F-7422AB81A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92C28-0A9B-D8F7-4894-FEF03856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EF63-3F7E-4AA2-907B-431B34AC0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473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05BF1-E5FF-2FDD-C428-164AB1439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A4A8F-98B1-C18F-9649-1964CEABF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E3DFF-32D4-2A2A-929F-085084128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6FE5-EFF7-45C1-B4F5-A424E20FE23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AD4D9-38D0-BFCC-B122-74AB557C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2988A-2491-3696-8E04-70180C5E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EF63-3F7E-4AA2-907B-431B34AC0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44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51A55-4C35-9031-3DA6-9E0FA340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B02BA-3652-6DBD-A942-120A39C82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160C4-C16C-60C5-2C84-091E9BD02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AE8D8-8E5D-09C9-E42A-7C165A033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6FE5-EFF7-45C1-B4F5-A424E20FE23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4096D-013C-D324-C730-1C3F5F41E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115E2-7EEC-CE20-30C0-BE75CEB3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EF63-3F7E-4AA2-907B-431B34AC0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52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1B790-B09C-E97F-536E-EB079AFBA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408D8-5F15-D66C-C17D-DA6EB0D4A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F6A2A-971D-DFE6-FBE8-6569B7507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D2BB5-108A-2660-22C2-DEA8A32B5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3DE7A2-6518-EC79-5EAF-C94B957262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47FC88-57DE-00D9-B35D-736D8468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6FE5-EFF7-45C1-B4F5-A424E20FE23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D7DE75-2CCA-74FF-68F8-D12972BA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6FFCEA-B2BC-DCDB-56FD-155AF7D7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EF63-3F7E-4AA2-907B-431B34AC0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88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2F67-B09A-7EBB-BA6C-BF66ADCD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670CB8-936A-B0D2-E5A7-189666954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6FE5-EFF7-45C1-B4F5-A424E20FE23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86B90-1E8E-A024-D2C3-22E6D4611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F316D-4757-75AD-9822-BADF3943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EF63-3F7E-4AA2-907B-431B34AC0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225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BC243B-9798-5182-B502-25D7F2F9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6FE5-EFF7-45C1-B4F5-A424E20FE23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40E099-FA13-F925-8763-C8BA5AC0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4C400-FA92-7EEB-7E53-AB9AC0659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EF63-3F7E-4AA2-907B-431B34AC0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204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06B55-0703-1C83-E34E-F0C82D98D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E5C94-B64C-F742-00F8-E525F131C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5EB50-2629-42AB-44D1-67241C72F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6CD92-BBAD-1D7B-512D-DCACE69DE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6FE5-EFF7-45C1-B4F5-A424E20FE23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D2DB6-C958-9129-A2ED-37A9C53E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17306-0490-F26D-9638-B8837AD2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EF63-3F7E-4AA2-907B-431B34AC0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36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B9EF-821D-4E47-AE02-6E979FBB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BC5EE-9F90-64C8-6595-0ADA11559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387AEB-8444-E9D1-1C87-F5A347D93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3E543-8797-C3FB-6130-97DDF2D02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6FE5-EFF7-45C1-B4F5-A424E20FE23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FB8F4-04E5-D84A-7A96-A10CD0F0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7A4AE-ECA1-0AD6-0F48-249C7F1AB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EF63-3F7E-4AA2-907B-431B34AC0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14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A482A-CC72-D0EA-7BC6-156A85F48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D83EE-3666-0067-FC46-8DD820910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33661-175D-93B2-0BE7-38E0B33D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6FE5-EFF7-45C1-B4F5-A424E20FE23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78887-A28E-4CFA-CC18-F68045C16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7CFBB-6F98-C9AD-6D3E-63D35071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EF63-3F7E-4AA2-907B-431B34AC0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64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6EC9E4-4A4E-C044-B79B-9E924EB87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78B68-1120-3C0D-2F2B-74B3CDE33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FA21B-8431-8290-A613-7BCC55CAB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6FE5-EFF7-45C1-B4F5-A424E20FE23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15C38-B8BB-2F91-9028-F60AF4070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920F8-BED8-3465-451D-8AD85C22F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8EF63-3F7E-4AA2-907B-431B34AC0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039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1E1A-CF0F-171D-036F-F207AAC61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CBC9B-B482-0F06-C63F-4CBF4490E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767F5-B6E4-5EC1-A890-049E219FE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E2D68-BA32-4CB4-68BD-A5E459DF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F455A-D8A6-6DE7-88BA-F92C2509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45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7F11-9F6A-5F98-FCA8-2CBE32D8A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1604A-E427-604B-6D8F-D247BC869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5903F-B105-AA26-0AAD-7348FA33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D3810-BFDC-EFA0-E679-EF4201F46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A3040-A33B-863D-151E-21D195E21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166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0202-BCD0-9F3B-06B5-D4102ED9A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2DA5F-3112-4701-64D3-A50FCA7E9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415BB-DEE0-24CE-D08B-6E71CB90C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5CEE3-E381-545C-384D-29C5E7BFE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169C0-4971-2F93-31A4-FAA629D4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998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991FA-256E-AF53-4A76-9A89FD47A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833CA-118C-F975-D46D-0E1EE8C887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C281D-0F4A-A4F6-A428-E0FF9C499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E0A56-875D-F526-1B36-4BA5499DB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DF7CB-82D2-25B3-0BAD-C7D47106F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28EC0-1EB7-9E38-3157-4D708218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278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8B8D-27F0-E83E-FDFD-13124A9C9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42948-9813-C66D-06E0-B7EAE40C9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FD10D-8CF9-1149-9F6E-706AC5280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FE2D8-40EB-1C46-1A2E-4E3CFE3CF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98895-52DF-9A7D-A459-3F5ADD73A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7F4CA0-F885-E79B-E978-171F036AB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3A07F3-1DB2-65B1-6094-989A9C7F2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8C3D8-50E6-F344-A01A-E56376EA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248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F56B-3CD4-BB60-5295-F90E4923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F55D60-3251-7955-A8A2-38CB585C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DCC19-F112-6F71-B98D-92166383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73DF0-9172-63F1-9D94-1BBE4937C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7172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A2078-A177-09A8-66D3-627C7651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7351AD-7E31-9C1A-20B0-8D1D1529D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97347-1B60-DBC2-5F32-D87C2E30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950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A5BB-5A0C-D1C0-E9B6-EED0550CC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E4AF5-DCE0-9367-36ED-48404FF94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455A4-7BB0-0DA2-292F-4D0FAA0D7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F91AA-56D6-A4DB-EFAD-3BB758FD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5FB57-A5AB-A868-1E42-B4180FE2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43DDF-A4D7-BD0C-EBBC-074EF815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2157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D9F7-D6C3-6D5D-A7F0-F9D0FE33E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5B715-798D-0D32-A87F-E8E4F3624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DC2EF-59A3-7A5E-AA21-56DC76713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663DE-70C1-BACB-C8F4-FF663511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6AF7B-4248-5297-B52A-42DAE3152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BE434-E752-6BD0-886D-20BA9A6E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7123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9C3A-A2BE-9A1F-B40B-3EE5FD58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D2055-CCB6-E3B0-2181-8BE6CB403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DF4A9-4EC7-F220-C11B-41F50C099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0AFD0-2F8C-F60D-3DB5-63DC1324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B4C4D-2FCE-5124-C5AB-83321C85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5270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3A9AD-4DF5-9EEB-8D91-F526403C2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791AC-38D6-38D6-24AD-CFCD40AFB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DAA46-A350-632A-2A39-6FCA443FA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F7F95-238A-2DBD-9767-211BFA7C9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0B718-0060-BF8E-63AD-6F3E21E1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841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F871F0-B81E-7FA7-6BC2-802AC841B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94629-BCDB-6C7A-0FC2-014F1AC21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39B17-622A-6CD7-45BE-8CCBE7325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76FE5-EFF7-45C1-B4F5-A424E20FE23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8D657-1371-4D90-D88E-A3DEF4879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4B4BF-F155-6AE3-AB9A-278BD7709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98EF63-3F7E-4AA2-907B-431B34AC0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86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B9E6F-ED44-81E2-1E43-46BD6EE05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59E2A-35CE-CDCB-8310-37C7B0C62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FA907-C503-6E5F-538B-1267998BC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9C3E2-420B-46E3-B1AF-A5615A7C72A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3455A-82FE-5B60-1BDD-664C2A947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5685A-50F0-C2D8-F96A-542D6DF6D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321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ndrewmvd/ocular-disease-recognition-odir5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andrewmvd/retinal-disease-classification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27F542-475C-B578-AC91-367F4AA87497}"/>
              </a:ext>
            </a:extLst>
          </p:cNvPr>
          <p:cNvSpPr txBox="1"/>
          <p:nvPr/>
        </p:nvSpPr>
        <p:spPr>
          <a:xfrm>
            <a:off x="3259533" y="447085"/>
            <a:ext cx="60033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R Siddhartha Engineering College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EEFA78-4B47-7DAD-9D92-6FACC52CA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27" y="185989"/>
            <a:ext cx="2017660" cy="109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16B406B-CDE2-2292-33F0-75FF4D839BC7}"/>
              </a:ext>
            </a:extLst>
          </p:cNvPr>
          <p:cNvSpPr txBox="1">
            <a:spLocks/>
          </p:cNvSpPr>
          <p:nvPr/>
        </p:nvSpPr>
        <p:spPr>
          <a:xfrm>
            <a:off x="1774862" y="1605343"/>
            <a:ext cx="9065342" cy="12419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Vision Transformer - CNN Framework for Explainable Multi-Disease Retinal Screening</a:t>
            </a:r>
          </a:p>
        </p:txBody>
      </p:sp>
      <p:pic>
        <p:nvPicPr>
          <p:cNvPr id="7" name="Picture 6" descr="Image result for vrsec">
            <a:extLst>
              <a:ext uri="{FF2B5EF4-FFF2-40B4-BE49-F238E27FC236}">
                <a16:creationId xmlns:a16="http://schemas.microsoft.com/office/drawing/2014/main" id="{D5C9811D-C06E-28FE-F166-CC3836404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547" y="90231"/>
            <a:ext cx="1068572" cy="124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539A49-DBF6-FC1C-F5C6-3F7225B54777}"/>
              </a:ext>
            </a:extLst>
          </p:cNvPr>
          <p:cNvSpPr txBox="1"/>
          <p:nvPr/>
        </p:nvSpPr>
        <p:spPr>
          <a:xfrm>
            <a:off x="3048000" y="2718004"/>
            <a:ext cx="6096000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Information Technology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Presentation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4BF70-3AA9-F13C-F14A-AE3FAB67D042}"/>
              </a:ext>
            </a:extLst>
          </p:cNvPr>
          <p:cNvSpPr txBox="1"/>
          <p:nvPr/>
        </p:nvSpPr>
        <p:spPr>
          <a:xfrm>
            <a:off x="3259533" y="3777464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 ABHINAYA (228W1A1275)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RAMYA (228W1A1284)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EC696-27BF-CB5F-B35D-A7913904006F}"/>
              </a:ext>
            </a:extLst>
          </p:cNvPr>
          <p:cNvSpPr txBox="1"/>
          <p:nvPr/>
        </p:nvSpPr>
        <p:spPr>
          <a:xfrm>
            <a:off x="3048000" y="5070151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>
                <a:solidFill>
                  <a:srgbClr val="FF0000"/>
                </a:solidFill>
                <a:cs typeface="AngsanaUPC" panose="02020603050405020304" pitchFamily="18" charset="-34"/>
              </a:rPr>
              <a:t>DR. Ch. Subba Reddy, Asst.Professor </a:t>
            </a:r>
            <a:endParaRPr lang="en-US" b="1" dirty="0">
              <a:solidFill>
                <a:srgbClr val="FF0000"/>
              </a:solidFill>
              <a:cs typeface="AngsanaUPC" panose="02020603050405020304" pitchFamily="18" charset="-34"/>
            </a:endParaRPr>
          </a:p>
          <a:p>
            <a:pPr algn="ctr"/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25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D6D24C-1EB9-A821-2A01-185533870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40" y="-22737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E2CE82-3B42-8BAC-F0A0-480E80EEA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40" y="848216"/>
            <a:ext cx="10783297" cy="58650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1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and Problem Statement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Objectives and Outcomes of the Project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Literature Review and Summary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Datasets and Requirements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Algorithms used in the Project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Architecture/Project Flow Diagram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Implementation steps and Execution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Results obtained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Result Analysis with charts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Conclusion and Future work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References</a:t>
            </a:r>
            <a:endParaRPr lang="en-IN" sz="18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17246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0D5A-EC03-2934-4933-AAC8D7C42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942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BAE6D161-F5AA-525F-A9F5-C81A3D8BD3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CAF8D-A740-AE32-416D-1C397020FF32}"/>
              </a:ext>
            </a:extLst>
          </p:cNvPr>
          <p:cNvSpPr txBox="1"/>
          <p:nvPr/>
        </p:nvSpPr>
        <p:spPr>
          <a:xfrm>
            <a:off x="211074" y="1113004"/>
            <a:ext cx="6918930" cy="558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2.2 billion people globally suffer from vision impairment; retinal diseases being major contributors.</a:t>
            </a:r>
          </a:p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significantly reduces the risk of irreversible blindness.</a:t>
            </a:r>
          </a:p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retinal screening is time-consuming and requires specialized ophthalmologists.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advancements in Deep Learning have enabled automated retinal disease detection using fundus images.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existing models often: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single-disease classification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explainability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 with limited and imbalanced datasets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motivates the need for a robust, multi-disease, and explainable AI-based screening system.</a:t>
            </a:r>
          </a:p>
        </p:txBody>
      </p:sp>
      <p:sp>
        <p:nvSpPr>
          <p:cNvPr id="8" name="AutoShape 2" descr="Major retinal diseases causing vision impairment">
            <a:extLst>
              <a:ext uri="{FF2B5EF4-FFF2-40B4-BE49-F238E27FC236}">
                <a16:creationId xmlns:a16="http://schemas.microsoft.com/office/drawing/2014/main" id="{6EA52CA1-2584-4669-84AB-EDFB4A495C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8999"/>
            <a:ext cx="4043423" cy="404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DC213A-9FC2-B28D-C279-B8663A4DA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403" y="1992653"/>
            <a:ext cx="4648271" cy="31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9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E13548-4001-699D-E428-702FE883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362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794F835-F20D-2F9F-C340-39D77CFA8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77" y="1362796"/>
            <a:ext cx="11134846" cy="549520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Retinal diseases often occur simultaneously (multi-label condition), making diagnosis more complex.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deep learning models are mostly designed for single-disease classification, limiting real-world applicability.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datasets such as retinal images are limited in size and highly imbalanced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model interpretability reduces trust in clinical settings.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fail to effectively combine: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feature extraction (CNNs)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contextual understanding (Transformers)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hybrid, explainable, and multi-disease detection framework that performs well even with limited data.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38108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CDB16-CCFF-E127-1BFF-0859D0531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1016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641D9-A5CE-8CD3-FB2A-6114465D1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0" y="1076960"/>
            <a:ext cx="11257280" cy="56286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hybrid deep learning model for multi-disease retinal classification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CNN (EfficientNet-B4) and Vision Transformer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both local and global features effectively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multi-label classification of retinal diseases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explainable predictions using Grad-CAM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system for detecting multiple retinal diseases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performance using hybrid architecture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generalization with augmentation and TTA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explainability for clinical trust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screening effort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302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D9E94D-36CE-CC70-F28A-96F3E1D62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1" y="-40640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DC7328-586C-F55D-E98C-6A33C1EEE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49358"/>
              </p:ext>
            </p:extLst>
          </p:nvPr>
        </p:nvGraphicFramePr>
        <p:xfrm>
          <a:off x="106681" y="728176"/>
          <a:ext cx="11978638" cy="5944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257">
                  <a:extLst>
                    <a:ext uri="{9D8B030D-6E8A-4147-A177-3AD203B41FA5}">
                      <a16:colId xmlns:a16="http://schemas.microsoft.com/office/drawing/2014/main" val="3046882666"/>
                    </a:ext>
                  </a:extLst>
                </a:gridCol>
                <a:gridCol w="793083">
                  <a:extLst>
                    <a:ext uri="{9D8B030D-6E8A-4147-A177-3AD203B41FA5}">
                      <a16:colId xmlns:a16="http://schemas.microsoft.com/office/drawing/2014/main" val="999809377"/>
                    </a:ext>
                  </a:extLst>
                </a:gridCol>
                <a:gridCol w="2293908">
                  <a:extLst>
                    <a:ext uri="{9D8B030D-6E8A-4147-A177-3AD203B41FA5}">
                      <a16:colId xmlns:a16="http://schemas.microsoft.com/office/drawing/2014/main" val="2279815417"/>
                    </a:ext>
                  </a:extLst>
                </a:gridCol>
                <a:gridCol w="1684749">
                  <a:extLst>
                    <a:ext uri="{9D8B030D-6E8A-4147-A177-3AD203B41FA5}">
                      <a16:colId xmlns:a16="http://schemas.microsoft.com/office/drawing/2014/main" val="996511011"/>
                    </a:ext>
                  </a:extLst>
                </a:gridCol>
                <a:gridCol w="1684749">
                  <a:extLst>
                    <a:ext uri="{9D8B030D-6E8A-4147-A177-3AD203B41FA5}">
                      <a16:colId xmlns:a16="http://schemas.microsoft.com/office/drawing/2014/main" val="1282400707"/>
                    </a:ext>
                  </a:extLst>
                </a:gridCol>
                <a:gridCol w="1684749">
                  <a:extLst>
                    <a:ext uri="{9D8B030D-6E8A-4147-A177-3AD203B41FA5}">
                      <a16:colId xmlns:a16="http://schemas.microsoft.com/office/drawing/2014/main" val="2076848036"/>
                    </a:ext>
                  </a:extLst>
                </a:gridCol>
                <a:gridCol w="1870143">
                  <a:extLst>
                    <a:ext uri="{9D8B030D-6E8A-4147-A177-3AD203B41FA5}">
                      <a16:colId xmlns:a16="http://schemas.microsoft.com/office/drawing/2014/main" val="4105205665"/>
                    </a:ext>
                  </a:extLst>
                </a:gridCol>
              </a:tblGrid>
              <a:tr h="60905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and Author Name(s)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160106"/>
                  </a:ext>
                </a:extLst>
              </a:tr>
              <a:tr h="269723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“Explainable deep learning-based meta-classifier approach for multi-label classification of retinal diseases”(A. Sharma, R. Mehta, and P. Gupta)[1].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multi-label retinal disease classification framework using a meta-classifier integrated with explainable AI techniques.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CNN models with meta-classifier ensemble strategy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Multi-label retinal fundus datasets (ODIR-like).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1.Achieved approximately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90–92% overall multi-label accuracy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2.Improved macro F1-score 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1.High computational complexity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Limited cross-dataset validation.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216795"/>
                  </a:ext>
                </a:extLst>
              </a:tr>
              <a:tr h="260683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“A Hybrid Fully Convolutional CNN-Transformer Model for Disease Detection from Retinal Fundus Images”(S. Kumar and V. Rao)[2].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hybrid CNN–Transformer architecture with inherent interpretability for retinal disease detection.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Fully Convolutional Network + Transformer modules.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Retinal fundus image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1.Reported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~91–93% classification accuracy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2.Enhanced model transparency.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evaluation on multi-task and multi-label scenarios.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609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436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342A4-BD53-6467-1AD0-6B749D26A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FCC3D4-559C-F308-E154-3AB53F1F0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1" y="-40640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D1A52C-8535-52B7-CAC4-944A9DB3A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643926"/>
              </p:ext>
            </p:extLst>
          </p:nvPr>
        </p:nvGraphicFramePr>
        <p:xfrm>
          <a:off x="132080" y="589280"/>
          <a:ext cx="11978638" cy="5944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257">
                  <a:extLst>
                    <a:ext uri="{9D8B030D-6E8A-4147-A177-3AD203B41FA5}">
                      <a16:colId xmlns:a16="http://schemas.microsoft.com/office/drawing/2014/main" val="3046882666"/>
                    </a:ext>
                  </a:extLst>
                </a:gridCol>
                <a:gridCol w="793083">
                  <a:extLst>
                    <a:ext uri="{9D8B030D-6E8A-4147-A177-3AD203B41FA5}">
                      <a16:colId xmlns:a16="http://schemas.microsoft.com/office/drawing/2014/main" val="999809377"/>
                    </a:ext>
                  </a:extLst>
                </a:gridCol>
                <a:gridCol w="2293908">
                  <a:extLst>
                    <a:ext uri="{9D8B030D-6E8A-4147-A177-3AD203B41FA5}">
                      <a16:colId xmlns:a16="http://schemas.microsoft.com/office/drawing/2014/main" val="2279815417"/>
                    </a:ext>
                  </a:extLst>
                </a:gridCol>
                <a:gridCol w="1684749">
                  <a:extLst>
                    <a:ext uri="{9D8B030D-6E8A-4147-A177-3AD203B41FA5}">
                      <a16:colId xmlns:a16="http://schemas.microsoft.com/office/drawing/2014/main" val="996511011"/>
                    </a:ext>
                  </a:extLst>
                </a:gridCol>
                <a:gridCol w="1684749">
                  <a:extLst>
                    <a:ext uri="{9D8B030D-6E8A-4147-A177-3AD203B41FA5}">
                      <a16:colId xmlns:a16="http://schemas.microsoft.com/office/drawing/2014/main" val="1282400707"/>
                    </a:ext>
                  </a:extLst>
                </a:gridCol>
                <a:gridCol w="1684749">
                  <a:extLst>
                    <a:ext uri="{9D8B030D-6E8A-4147-A177-3AD203B41FA5}">
                      <a16:colId xmlns:a16="http://schemas.microsoft.com/office/drawing/2014/main" val="2076848036"/>
                    </a:ext>
                  </a:extLst>
                </a:gridCol>
                <a:gridCol w="1870143">
                  <a:extLst>
                    <a:ext uri="{9D8B030D-6E8A-4147-A177-3AD203B41FA5}">
                      <a16:colId xmlns:a16="http://schemas.microsoft.com/office/drawing/2014/main" val="4105205665"/>
                    </a:ext>
                  </a:extLst>
                </a:gridCol>
              </a:tblGrid>
              <a:tr h="60905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and Author Name(s)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160106"/>
                  </a:ext>
                </a:extLst>
              </a:tr>
              <a:tr h="269723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“Hybrid Vision Transformer and CNN framework for retinal disorder classification using fundus imaging”</a:t>
                      </a:r>
                    </a:p>
                    <a:p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(M. Iqbal, T. Rahman, and K. Ali)[3].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a hybrid Vision Transformer + CNN framework for retinal disorder classification.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Transformer + CNN feature fusion.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Fundus imaging datasets.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1.Achieved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~92–94% classification accuracy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demonstrating effective global and local feature fusion.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single-label classification with limited explainability validation.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216795"/>
                  </a:ext>
                </a:extLst>
              </a:tr>
              <a:tr h="260683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“Interpretable Deep Learning for Diabetic Retinopathy using Hybrid Models and Attention Visualization,” (L. Wang, H. Zhang, and Y. Chen)[4].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hybrid deep learning models with attention visualization for diabetic retinopathy detection.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Transformer hybrid with attention maps.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Diabetic Retinopathy datasets.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1.Reported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~93–95% DR detection accuracy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strong AUC performance and clinically aligned attention maps.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only on DR; no multi-disease extension.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609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126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5983-C08F-69CB-3372-9DC6512DF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DDA026-D800-18FF-B7B5-C09D07FF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08" y="-330903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Summary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6FDF2E-164A-02C7-E5F0-7DD9D6ABD840}"/>
              </a:ext>
            </a:extLst>
          </p:cNvPr>
          <p:cNvSpPr txBox="1"/>
          <p:nvPr/>
        </p:nvSpPr>
        <p:spPr>
          <a:xfrm>
            <a:off x="403699" y="582949"/>
            <a:ext cx="10698609" cy="6275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studies focus on deep learning-based retinal disease classification, achieving high accuracy (~90–95%).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CNN + Transformer models have shown improved performance by combining: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feature extraction (CNN)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context learning (Transformer)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techniques (e.g., attention maps, Grad-CAM) are increasingly used to improve model transparency.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works: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single datasets (e.g., ODIR, DR datasets)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single-disease classification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limitations identified: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multi-label disease detection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cross-dataset generalization</a:t>
            </a:r>
          </a:p>
          <a:p>
            <a:pPr marL="377825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multi-disease (multi-label), hybrid, and explainable framework trained on combined datasets for better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544537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EB414-08FD-15C2-C3BB-4FCB1643D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B4F0C-01BA-ABDE-55F0-C3E2EF190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1036320"/>
            <a:ext cx="9906000" cy="562864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ODIR-5K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Kaggle-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https://www.kaggle.com/datasets/andrewmvd/ocular-disease-recognition-odir5k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 5,000 patients – 10,000 fundus images (left &amp; right eyes).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RFMiD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Kaggle-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https://www.kaggle.com/datasets/andrewmvd/retinal-disease-classification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 3,200 images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 Selected from both Datasets: </a:t>
            </a:r>
          </a:p>
          <a:p>
            <a:pPr marL="355600" indent="0">
              <a:lnSpc>
                <a:spcPct val="150000"/>
              </a:lnSpc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(Diabetic Retinopathy),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ARMD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(Age-Related Macular Degeneration),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MH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(Macular Hole),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DN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(Diabetic Neuropathy),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MYA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(Myopia),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TSLN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(Tessellated Fundus)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198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C14F8F-E2EF-CDE4-30F1-AA8A9D98C666}"/>
              </a:ext>
            </a:extLst>
          </p:cNvPr>
          <p:cNvSpPr txBox="1"/>
          <p:nvPr/>
        </p:nvSpPr>
        <p:spPr>
          <a:xfrm>
            <a:off x="2682240" y="23576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IN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0A075D-0AB2-C9A9-C56C-3EA42E2A3D70}"/>
                  </a:ext>
                </a:extLst>
              </p:cNvPr>
              <p:cNvSpPr txBox="1"/>
              <p:nvPr/>
            </p:nvSpPr>
            <p:spPr>
              <a:xfrm>
                <a:off x="538480" y="1188700"/>
                <a:ext cx="9540240" cy="8406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1: EfficientNet-B4 for Feature Extraction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Retinal fundus image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CNN feature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𝑐𝑛𝑛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Image Preprocessing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The input retinal image is resized to a fixed resolution (e.g.,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224</m:t>
                    </m:r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224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normalized. 	Contrast enhancement using CLAHE is applied to improve visibility of retinal features.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Convolution and </a:t>
                </a:r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MBConv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Blocks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The image is passed through multiple convolutional layers and </a:t>
                </a:r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MBConv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(Mobile Inverted 	Bottleneck Convolution)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blocks to extract hierarchical features.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Squeeze-and-Excitation (SE) Attention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Channel-wise attention is applied to emphasize important features.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𝑠𝑒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0A075D-0AB2-C9A9-C56C-3EA42E2A3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80" y="1188700"/>
                <a:ext cx="9540240" cy="8406019"/>
              </a:xfrm>
              <a:prstGeom prst="rect">
                <a:avLst/>
              </a:prstGeom>
              <a:blipFill>
                <a:blip r:embed="rId2"/>
                <a:stretch>
                  <a:fillRect l="-511" r="-7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562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9890A-A9C5-EFA8-E7CC-4DC477445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494700-0110-3E69-7791-23EE68D8D40B}"/>
              </a:ext>
            </a:extLst>
          </p:cNvPr>
          <p:cNvSpPr txBox="1"/>
          <p:nvPr/>
        </p:nvSpPr>
        <p:spPr>
          <a:xfrm>
            <a:off x="2682240" y="23576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IN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B6A8BB-7EDC-F10D-4951-7BC94FB3F4D5}"/>
                  </a:ext>
                </a:extLst>
              </p:cNvPr>
              <p:cNvSpPr txBox="1"/>
              <p:nvPr/>
            </p:nvSpPr>
            <p:spPr>
              <a:xfrm>
                <a:off x="538480" y="1188700"/>
                <a:ext cx="9540240" cy="58755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4: Compound Scaling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EfficientNet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scales network depth, width, and resolution uniformly: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5: Feature Extraction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The final feature map is converted into a feature vector: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𝑐𝑛𝑛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EfficientNet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B6A8BB-7EDC-F10D-4951-7BC94FB3F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80" y="1188700"/>
                <a:ext cx="9540240" cy="5875519"/>
              </a:xfrm>
              <a:prstGeom prst="rect">
                <a:avLst/>
              </a:prstGeom>
              <a:blipFill>
                <a:blip r:embed="rId2"/>
                <a:stretch>
                  <a:fillRect l="-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7410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967B5-CC49-6AB9-613D-34BF3783F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75ED11-F6AF-D37E-279B-2D77CA9771A8}"/>
              </a:ext>
            </a:extLst>
          </p:cNvPr>
          <p:cNvSpPr txBox="1"/>
          <p:nvPr/>
        </p:nvSpPr>
        <p:spPr>
          <a:xfrm>
            <a:off x="2682240" y="23576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IN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88F054-39A1-95C7-7FD8-65928BDDB22B}"/>
                  </a:ext>
                </a:extLst>
              </p:cNvPr>
              <p:cNvSpPr txBox="1"/>
              <p:nvPr/>
            </p:nvSpPr>
            <p:spPr>
              <a:xfrm>
                <a:off x="538480" y="1188700"/>
                <a:ext cx="9540240" cy="5803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2: Vision Transformer (</a:t>
                </a:r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ViT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-B/16)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Retinal fundus image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Transformer feature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𝑣𝑖𝑡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Image Preprocessing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The input image is resized and normalized to match transformer input requirements.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Patch Tokenization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The image is divided into fixed-size patches.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patch size,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patches</a:t>
                </a:r>
              </a:p>
              <a:p>
                <a:pPr>
                  <a:lnSpc>
                    <a:spcPct val="150000"/>
                  </a:lnSpc>
                </a:pPr>
                <a:b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88F054-39A1-95C7-7FD8-65928BDDB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80" y="1188700"/>
                <a:ext cx="9540240" cy="5803705"/>
              </a:xfrm>
              <a:prstGeom prst="rect">
                <a:avLst/>
              </a:prstGeom>
              <a:blipFill>
                <a:blip r:embed="rId2"/>
                <a:stretch>
                  <a:fillRect l="-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703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CD52D-3E09-9630-33E9-A475332F4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522670-D38B-D203-96FB-032DBDD97B2B}"/>
              </a:ext>
            </a:extLst>
          </p:cNvPr>
          <p:cNvSpPr txBox="1"/>
          <p:nvPr/>
        </p:nvSpPr>
        <p:spPr>
          <a:xfrm>
            <a:off x="2682240" y="23576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IN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9AA214-19B8-74C0-3064-53078297EAA8}"/>
                  </a:ext>
                </a:extLst>
              </p:cNvPr>
              <p:cNvSpPr txBox="1"/>
              <p:nvPr/>
            </p:nvSpPr>
            <p:spPr>
              <a:xfrm>
                <a:off x="538480" y="1188700"/>
                <a:ext cx="9540240" cy="5719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Patch Embedding with Positional Encoding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Each patch is flattened and converted into an embedding vector: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Positional encoding is added: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𝑐𝑙𝑎𝑠𝑠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...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4: Multi-Head Self-Attention (MHSA)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The model captures global relationships between patches: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Attention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softmax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b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5: Feature Extraction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The final representation is obtained from the class token: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𝑣𝑖𝑡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ViT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9AA214-19B8-74C0-3064-53078297E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80" y="1188700"/>
                <a:ext cx="9540240" cy="5719066"/>
              </a:xfrm>
              <a:prstGeom prst="rect">
                <a:avLst/>
              </a:prstGeom>
              <a:blipFill>
                <a:blip r:embed="rId2"/>
                <a:stretch>
                  <a:fillRect l="-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091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2988F6B-BF32-B38A-D278-B993D529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" y="-28448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DD2D8-1B6C-41E3-178D-39567A0C5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92" y="663132"/>
            <a:ext cx="11403016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02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DDC0C8-180A-45D5-D4EF-94C720C6F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96" y="-33836"/>
            <a:ext cx="10515600" cy="142521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Execution Steps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6869D-879A-16C0-17DE-023BBB4D3BD4}"/>
              </a:ext>
            </a:extLst>
          </p:cNvPr>
          <p:cNvSpPr txBox="1"/>
          <p:nvPr/>
        </p:nvSpPr>
        <p:spPr>
          <a:xfrm>
            <a:off x="445196" y="1054184"/>
            <a:ext cx="9976948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Dataset Preparation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RFMiD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ODIR-5K datasets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common disease labels: DR, ARMD, MH, DN, MYA, TSLN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into train, validation, and test sets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Image Preprocessing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Resized images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 × 224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CLAHE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contrast enhancement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normalization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(flip, rotation, noise) </a:t>
            </a:r>
          </a:p>
          <a:p>
            <a:pPr marL="92075" lvl="1" indent="-92075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3: Handling Class Imbalance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class-wise positive weights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WeightedRandomSampler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BCEWithLogitsLoss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pos_weight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185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84843-C57B-445D-EF5D-76C9D718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B92827-8770-DDBA-0182-C81A86636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96" y="-33836"/>
            <a:ext cx="10515600" cy="142521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Execution Steps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FAF03-80BD-A5F9-DAF4-31364F659A12}"/>
              </a:ext>
            </a:extLst>
          </p:cNvPr>
          <p:cNvSpPr txBox="1"/>
          <p:nvPr/>
        </p:nvSpPr>
        <p:spPr>
          <a:xfrm>
            <a:off x="445196" y="1054184"/>
            <a:ext cx="9976948" cy="5859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Model Development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local feature extraction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Transformer: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-B/16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global feature learning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projection layers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Feature Fusion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 Cross-Attention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CNN and Transformer features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 fused features to classifier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Model Training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scheduling: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Annealing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for multiple epochs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573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D9AD1-792A-611F-CBBE-52082938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E843F5-3197-7DD3-E78D-31B3579A5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96" y="-33836"/>
            <a:ext cx="10515600" cy="142521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Execution Steps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5555B-A9AA-73C9-B38F-3BBB77C7D9A7}"/>
              </a:ext>
            </a:extLst>
          </p:cNvPr>
          <p:cNvSpPr txBox="1"/>
          <p:nvPr/>
        </p:nvSpPr>
        <p:spPr>
          <a:xfrm>
            <a:off x="526219" y="1537969"/>
            <a:ext cx="9976948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Evaluation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AUC, F1-score, Precision, Recall, Accuracy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Generated: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curves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matrices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Precision-Recall curves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Explainability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important regions in retinal images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895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B524147-A2E7-92A3-4CDF-F4B11365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96" y="254000"/>
            <a:ext cx="10515600" cy="142521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DC94A1-A425-6788-0122-A0BBC841AB45}"/>
              </a:ext>
            </a:extLst>
          </p:cNvPr>
          <p:cNvSpPr txBox="1"/>
          <p:nvPr/>
        </p:nvSpPr>
        <p:spPr>
          <a:xfrm>
            <a:off x="2974596" y="5318813"/>
            <a:ext cx="545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of Proposed Approaches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9956D9-EC30-F7D1-1839-36778DABE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7668"/>
              </p:ext>
            </p:extLst>
          </p:nvPr>
        </p:nvGraphicFramePr>
        <p:xfrm>
          <a:off x="717630" y="2038599"/>
          <a:ext cx="10880202" cy="2718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367">
                  <a:extLst>
                    <a:ext uri="{9D8B030D-6E8A-4147-A177-3AD203B41FA5}">
                      <a16:colId xmlns:a16="http://schemas.microsoft.com/office/drawing/2014/main" val="2861893708"/>
                    </a:ext>
                  </a:extLst>
                </a:gridCol>
                <a:gridCol w="1813367">
                  <a:extLst>
                    <a:ext uri="{9D8B030D-6E8A-4147-A177-3AD203B41FA5}">
                      <a16:colId xmlns:a16="http://schemas.microsoft.com/office/drawing/2014/main" val="714482688"/>
                    </a:ext>
                  </a:extLst>
                </a:gridCol>
                <a:gridCol w="1813367">
                  <a:extLst>
                    <a:ext uri="{9D8B030D-6E8A-4147-A177-3AD203B41FA5}">
                      <a16:colId xmlns:a16="http://schemas.microsoft.com/office/drawing/2014/main" val="649753746"/>
                    </a:ext>
                  </a:extLst>
                </a:gridCol>
                <a:gridCol w="1813367">
                  <a:extLst>
                    <a:ext uri="{9D8B030D-6E8A-4147-A177-3AD203B41FA5}">
                      <a16:colId xmlns:a16="http://schemas.microsoft.com/office/drawing/2014/main" val="938727146"/>
                    </a:ext>
                  </a:extLst>
                </a:gridCol>
                <a:gridCol w="1813367">
                  <a:extLst>
                    <a:ext uri="{9D8B030D-6E8A-4147-A177-3AD203B41FA5}">
                      <a16:colId xmlns:a16="http://schemas.microsoft.com/office/drawing/2014/main" val="717284266"/>
                    </a:ext>
                  </a:extLst>
                </a:gridCol>
                <a:gridCol w="1813367">
                  <a:extLst>
                    <a:ext uri="{9D8B030D-6E8A-4147-A177-3AD203B41FA5}">
                      <a16:colId xmlns:a16="http://schemas.microsoft.com/office/drawing/2014/main" val="3141344280"/>
                    </a:ext>
                  </a:extLst>
                </a:gridCol>
              </a:tblGrid>
              <a:tr h="4213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820375"/>
                  </a:ext>
                </a:extLst>
              </a:tr>
              <a:tr h="4213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EfficientNet-B3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Disease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Scaling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123997"/>
                  </a:ext>
                </a:extLst>
              </a:tr>
              <a:tr h="4213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DenseNet121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Disease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Reuse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871155"/>
                  </a:ext>
                </a:extLst>
              </a:tr>
              <a:tr h="727268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Ensemble(B5+Densenet121)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Ensemble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Disease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Confidence-Based Fusion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72544"/>
                  </a:ext>
                </a:extLst>
              </a:tr>
              <a:tr h="727268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Proposed Model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(CNN +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 Disease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Fusion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150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167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8873A-10C0-9A07-8492-F8D5EB7F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5BD7B2-4DB8-A389-37FC-91037E485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815" y="2025344"/>
            <a:ext cx="9385958" cy="305200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F602FE7-07A7-3CA1-F669-E65607F3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96" y="254000"/>
            <a:ext cx="10515600" cy="142521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0DBD2E-25FC-246E-6AA8-84E5AF09D072}"/>
              </a:ext>
            </a:extLst>
          </p:cNvPr>
          <p:cNvSpPr txBox="1"/>
          <p:nvPr/>
        </p:nvSpPr>
        <p:spPr>
          <a:xfrm>
            <a:off x="3305236" y="5423475"/>
            <a:ext cx="479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 of the Proposed Model</a:t>
            </a:r>
          </a:p>
        </p:txBody>
      </p:sp>
    </p:spTree>
    <p:extLst>
      <p:ext uri="{BB962C8B-B14F-4D97-AF65-F5344CB8AC3E}">
        <p14:creationId xmlns:p14="http://schemas.microsoft.com/office/powerpoint/2010/main" val="3727367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B6750-107B-AA8A-EC0A-E29EF1BD5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5AC74CE-A2D9-6502-259D-6062C1DC03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3"/>
          <a:stretch>
            <a:fillRect/>
          </a:stretch>
        </p:blipFill>
        <p:spPr bwMode="auto">
          <a:xfrm>
            <a:off x="1542733" y="780455"/>
            <a:ext cx="8739188" cy="529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C3B8D3-BA58-CF5E-F722-E9263D67B335}"/>
              </a:ext>
            </a:extLst>
          </p:cNvPr>
          <p:cNvSpPr txBox="1"/>
          <p:nvPr/>
        </p:nvSpPr>
        <p:spPr>
          <a:xfrm>
            <a:off x="3916680" y="6238239"/>
            <a:ext cx="4358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Matrices for Hybrid Model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D51F07-7A64-C989-8593-06F19DC0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196" y="-335280"/>
            <a:ext cx="10515600" cy="142521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702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C47A5-1979-FA43-25FE-E316E406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D3FD57-9CDC-09CC-3CEA-7656068711B3}"/>
              </a:ext>
            </a:extLst>
          </p:cNvPr>
          <p:cNvSpPr txBox="1"/>
          <p:nvPr/>
        </p:nvSpPr>
        <p:spPr>
          <a:xfrm>
            <a:off x="3916680" y="6238239"/>
            <a:ext cx="4358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Matrices for Hybrid Model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E7496D-A4AB-356F-FA10-1AB9FAAF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196" y="-335280"/>
            <a:ext cx="10515600" cy="142521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D2EC0-BDEA-83AB-CF72-939892A73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608" y="772873"/>
            <a:ext cx="2940784" cy="531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1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7F609-3DD6-F7F7-6043-9A1CE9D45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F6D4-40AC-CF4D-6ECA-73219354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" y="-144491"/>
            <a:ext cx="10515600" cy="142521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69EF7-6966-7CD5-D4F5-D3C055AAB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726" y="1189286"/>
            <a:ext cx="6363588" cy="4725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DBB3B5-A7E6-4D59-5AEB-19CD64C82659}"/>
              </a:ext>
            </a:extLst>
          </p:cNvPr>
          <p:cNvSpPr txBox="1"/>
          <p:nvPr/>
        </p:nvSpPr>
        <p:spPr>
          <a:xfrm>
            <a:off x="3479800" y="6126479"/>
            <a:ext cx="4358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Comparison Across models</a:t>
            </a:r>
          </a:p>
        </p:txBody>
      </p:sp>
    </p:spTree>
    <p:extLst>
      <p:ext uri="{BB962C8B-B14F-4D97-AF65-F5344CB8AC3E}">
        <p14:creationId xmlns:p14="http://schemas.microsoft.com/office/powerpoint/2010/main" val="986048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09148-3FF3-F062-F0D4-5CA813665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2FCF-DEFD-6234-E12F-A65C2AE6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5131"/>
            <a:ext cx="10515600" cy="142521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75ED8-687D-8044-A998-CA5911FF9D4F}"/>
              </a:ext>
            </a:extLst>
          </p:cNvPr>
          <p:cNvSpPr txBox="1"/>
          <p:nvPr/>
        </p:nvSpPr>
        <p:spPr>
          <a:xfrm>
            <a:off x="706120" y="1097846"/>
            <a:ext cx="969772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hybrid CNN–Transformer framework for multi-disease retinal screening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EfficientNet-B4 (local features) and Vision Transformer (global features)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improved performance over baseline and ensemble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multi-label classification for simultaneous disease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Grad-CAM for model explainability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model to larger and more diverse datasets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 using advanced transformers (e.g., Swin Transformer)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clinical data along with images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 for real-time deployment (mobile/web apps)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explainability with more advanced XAI techniques</a:t>
            </a:r>
          </a:p>
        </p:txBody>
      </p:sp>
    </p:spTree>
    <p:extLst>
      <p:ext uri="{BB962C8B-B14F-4D97-AF65-F5344CB8AC3E}">
        <p14:creationId xmlns:p14="http://schemas.microsoft.com/office/powerpoint/2010/main" val="730613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F8664-382D-A22F-9015-C492CD38F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17208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F72EC-B1C1-BA52-FC21-822CE1D46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80" y="1666240"/>
            <a:ext cx="10886440" cy="4510723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 M.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Elkenawy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Khodadadi, K. S. Gaber, E. Khodadadi, A. A.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Alhussan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S.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Khafaga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M. Eid, “Automated Retinal Disease Classification Using Deep Learning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AlexNet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Statistical Models Analysis,”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Elsevier / Scientific Reports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2026.</a:t>
            </a:r>
            <a:endParaRPr lang="en-US" sz="18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Kumar and V. Rao, “A Hybrid Fully Convolutional CNN-Transformer Model for Inherently Interpretable Disease Detection from Retinal Fundus Images,” </a:t>
            </a:r>
            <a:r>
              <a:rPr lang="en-US" sz="18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arXiv:2504.08481, 2025.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Iqbal, T. Rahman, and K. Ali, “Hybrid Vision Transformer and CNN framework for retinal disorder classification using fundus imaging,” Journal of Theoretical and Applied Information Technology, vol. 103, no. 24, 2025.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 Wang, H. Zhang, and Y. Chen, “Interpretable Deep Learning for Diabetic Retinopathy using Hybrid Models and Attention Visualization,” Computers, vol. 14, no. 5, 2025.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975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94832-D50F-C703-9A1F-D756F3F13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3ED66-C29B-2468-3E1B-6CDB5C3A2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17208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D6D71-3292-12ED-5F8F-06EF49734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80" y="1666240"/>
            <a:ext cx="10886440" cy="451072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Djoumessi, S. O. Mensah, and P. Berens, “A Hybrid Fully Convolutional CNN-Transformer Model for Inherently Interpretable Disease Detection from Retinal Fundus Images,”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/ Journal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Sweidan and A. Taha, “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DeepRetina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for Multi-retinal Diseases Classification,”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/ Conference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sz="1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Sharma, R. Mehta, and P. Gupta, “Explainable deep learning-based meta-classifier approach for multi-label classification of retinal diseases,” Biomedical Signal Processing and Control, vol. 95, 2025.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Wang, J. Lian, and W. Jiao, “Multi-label classification of retinal disease via a novel vision transformer model,”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 / Journal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</p:txBody>
      </p:sp>
    </p:spTree>
    <p:extLst>
      <p:ext uri="{BB962C8B-B14F-4D97-AF65-F5344CB8AC3E}">
        <p14:creationId xmlns:p14="http://schemas.microsoft.com/office/powerpoint/2010/main" val="2798415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46B680-FE13-80A2-8BEA-9E26C6C9A8A1}"/>
              </a:ext>
            </a:extLst>
          </p:cNvPr>
          <p:cNvSpPr txBox="1"/>
          <p:nvPr/>
        </p:nvSpPr>
        <p:spPr>
          <a:xfrm>
            <a:off x="3048000" y="2572112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6205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1698</TotalTime>
  <Words>1985</Words>
  <Application>Microsoft Office PowerPoint</Application>
  <PresentationFormat>Widescreen</PresentationFormat>
  <Paragraphs>275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AngsanaUPC</vt:lpstr>
      <vt:lpstr>Aptos</vt:lpstr>
      <vt:lpstr>Aptos Display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1_Office Theme</vt:lpstr>
      <vt:lpstr>PowerPoint Presentation</vt:lpstr>
      <vt:lpstr>Agenda</vt:lpstr>
      <vt:lpstr>Introduction</vt:lpstr>
      <vt:lpstr>Problem Statement</vt:lpstr>
      <vt:lpstr>Objectives and Outcomes</vt:lpstr>
      <vt:lpstr>Literature Review</vt:lpstr>
      <vt:lpstr>Literature Review</vt:lpstr>
      <vt:lpstr>Literature Summary</vt:lpstr>
      <vt:lpstr>Datasets and Requirements</vt:lpstr>
      <vt:lpstr>PowerPoint Presentation</vt:lpstr>
      <vt:lpstr>PowerPoint Presentation</vt:lpstr>
      <vt:lpstr>PowerPoint Presentation</vt:lpstr>
      <vt:lpstr>PowerPoint Presentation</vt:lpstr>
      <vt:lpstr>Architecture Diagram</vt:lpstr>
      <vt:lpstr>Implementation and Execution Steps</vt:lpstr>
      <vt:lpstr>Implementation and Execution Steps</vt:lpstr>
      <vt:lpstr>Implementation and Execution Steps</vt:lpstr>
      <vt:lpstr>Results Obtained</vt:lpstr>
      <vt:lpstr>Results Obtained</vt:lpstr>
      <vt:lpstr>Results Obtained</vt:lpstr>
      <vt:lpstr>Results Obtained</vt:lpstr>
      <vt:lpstr>Result Analysis</vt:lpstr>
      <vt:lpstr>Conclusion and Future Work</vt:lpstr>
      <vt:lpstr>References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Vamsi Krishna Kodavali</dc:creator>
  <cp:lastModifiedBy>Siva Kolla</cp:lastModifiedBy>
  <cp:revision>37</cp:revision>
  <dcterms:created xsi:type="dcterms:W3CDTF">2025-01-06T12:51:42Z</dcterms:created>
  <dcterms:modified xsi:type="dcterms:W3CDTF">2026-04-20T01:58:19Z</dcterms:modified>
</cp:coreProperties>
</file>